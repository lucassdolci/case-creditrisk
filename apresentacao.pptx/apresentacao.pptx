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3" r:id="rId2"/>
    <p:sldId id="257" r:id="rId3"/>
    <p:sldId id="258" r:id="rId4"/>
    <p:sldId id="259" r:id="rId5"/>
    <p:sldId id="260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Inadimplência %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CB-4A0B-831A-AB834F0C0BDF}"/>
              </c:ext>
            </c:extLst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CB-4A0B-831A-AB834F0C0BDF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CB-4A0B-831A-AB834F0C0B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Penalizado
Injusto</c:v>
                </c:pt>
                <c:pt idx="1">
                  <c:v>Média
Carteira</c:v>
                </c:pt>
                <c:pt idx="2">
                  <c:v>Falso
Seguro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22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2CB-4A0B-831A-AB834F0C0B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744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03BCB10-5783-74F7-30E6-904B71608E0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BFEF19-6FE8-FA8D-C904-871F55CECC74}"/>
              </a:ext>
            </a:extLst>
          </p:cNvPr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CREDIT RISK</a:t>
            </a:r>
            <a:endParaRPr lang="en-US" sz="4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23E6A4-640B-64FB-CC8A-9D233644BB4E}"/>
              </a:ext>
            </a:extLst>
          </p:cNvPr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Risco de Crédito com SQL, Power BI e DAX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E21971-C029-D8C0-5C24-0D5AD0869C54}"/>
              </a:ext>
            </a:extLst>
          </p:cNvPr>
          <p:cNvSpPr/>
          <p:nvPr/>
        </p:nvSpPr>
        <p:spPr>
          <a:xfrm>
            <a:off x="457199" y="2971800"/>
            <a:ext cx="5750169" cy="45720"/>
          </a:xfrm>
          <a:prstGeom prst="rect">
            <a:avLst/>
          </a:prstGeom>
          <a:solidFill>
            <a:schemeClr val="bg1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9AE2DC-5D6A-91F8-BF44-F29B47142F49}"/>
              </a:ext>
            </a:extLst>
          </p:cNvPr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Dolci  |  github.com/lucassdolci/Case-CreditRisk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8C2E06-607E-85D2-78D3-DCB406640312}"/>
              </a:ext>
            </a:extLst>
          </p:cNvPr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32.581 registros  |  12 variáveis  |  Dados de bureau de crédito simulado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37377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0F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anose="020B0502040204020203" pitchFamily="34" charset="0"/>
                <a:ea typeface="Arial Black" pitchFamily="34" charset="-122"/>
                <a:cs typeface="Segoe UI" panose="020B0502040204020203" pitchFamily="34" charset="0"/>
              </a:rPr>
              <a:t>O bureau de crédito é suficiente?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Bancos e fintechs usam o histórico no bureau </a:t>
            </a:r>
            <a:r>
              <a:rPr lang="en-US" sz="1500" dirty="0" err="1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como</a:t>
            </a:r>
            <a:r>
              <a:rPr lang="en-US" sz="1500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critério principal para concessão de crédito. </a:t>
            </a:r>
            <a:r>
              <a:rPr lang="en-US" sz="15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Mas estar limpo no Serasa realmente significa que a pessoa vai pagar?</a:t>
            </a:r>
            <a:endParaRPr lang="en-US" sz="15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>
              <a:buNone/>
            </a:pP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en-US" sz="1500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Esse case investiga se o bureau sozinho classifica corretamente o risco, ou se existem </a:t>
            </a:r>
            <a:r>
              <a:rPr lang="en-US" sz="15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variáveis mais importantes sendo ignoradas.</a:t>
            </a:r>
            <a:endParaRPr lang="en-US" sz="15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0" y="1280160"/>
            <a:ext cx="301752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0" y="12984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22%</a:t>
            </a:r>
          </a:p>
        </p:txBody>
      </p:sp>
      <p:sp>
        <p:nvSpPr>
          <p:cNvPr id="8" name="Text 6"/>
          <p:cNvSpPr/>
          <p:nvPr/>
        </p:nvSpPr>
        <p:spPr>
          <a:xfrm>
            <a:off x="5669280" y="1737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Inadimplência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669280" y="2377440"/>
            <a:ext cx="301752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669280" y="23957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1A1A2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R$77Mi</a:t>
            </a:r>
          </a:p>
        </p:txBody>
      </p:sp>
      <p:sp>
        <p:nvSpPr>
          <p:cNvPr id="11" name="Text 9"/>
          <p:cNvSpPr/>
          <p:nvPr/>
        </p:nvSpPr>
        <p:spPr>
          <a:xfrm>
            <a:off x="5669280" y="2834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Realizada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3474720"/>
            <a:ext cx="301752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669280" y="34930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32.581</a:t>
            </a:r>
          </a:p>
        </p:txBody>
      </p:sp>
      <p:sp>
        <p:nvSpPr>
          <p:cNvPr id="14" name="Text 12"/>
          <p:cNvSpPr/>
          <p:nvPr/>
        </p:nvSpPr>
        <p:spPr>
          <a:xfrm>
            <a:off x="5669280" y="3931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Analisados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0F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 PRINCIPAL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anose="020B0502040204020203" pitchFamily="34" charset="0"/>
                <a:ea typeface="Arial Black" pitchFamily="34" charset="-122"/>
                <a:cs typeface="Segoe UI" panose="020B0502040204020203" pitchFamily="34" charset="0"/>
              </a:rPr>
              <a:t>Dois grupos sendo classificados errado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17674"/>
            <a:ext cx="3931920" cy="3291840"/>
          </a:xfrm>
          <a:prstGeom prst="rect">
            <a:avLst/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317674"/>
            <a:ext cx="3931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31767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Arial Black" pitchFamily="34" charset="-122"/>
                <a:cs typeface="Segoe UI" panose="020B0502040204020203" pitchFamily="34" charset="0"/>
              </a:rPr>
              <a:t>O FALSO SEGURO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957754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- Limpo no bureau mas com </a:t>
            </a:r>
            <a:r>
              <a:rPr lang="en-US" sz="13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boa parte da renda comprometida e juros altos.</a:t>
            </a:r>
            <a:endParaRPr lang="en-US" sz="13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>
              <a:buNone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en-US" sz="1300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- Esse grupo tende a ter </a:t>
            </a:r>
            <a:r>
              <a:rPr lang="en-US" sz="13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mais inadimplência </a:t>
            </a:r>
            <a:r>
              <a:rPr lang="en-US" sz="1300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do que parece, e continua sendo aprovado.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60367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Taxa de inadimplência acima da média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17674"/>
            <a:ext cx="3931920" cy="329184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846320" y="1317674"/>
            <a:ext cx="393192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46320" y="131767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Arial Black" pitchFamily="34" charset="-122"/>
                <a:cs typeface="Segoe UI" panose="020B0502040204020203" pitchFamily="34" charset="0"/>
              </a:rPr>
              <a:t>O PENALIZADO INJUSTO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0" y="1957754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- </a:t>
            </a:r>
            <a:r>
              <a:rPr lang="en-US" sz="1300" b="1" dirty="0">
                <a:solidFill>
                  <a:srgbClr val="1A1A2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Sujo no bureau </a:t>
            </a:r>
            <a:r>
              <a:rPr lang="en-US" sz="1300" dirty="0">
                <a:solidFill>
                  <a:srgbClr val="1A1A2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mas com renda boa e comprometimento baixo.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>
              <a:buNone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- Esse grupo </a:t>
            </a:r>
            <a:r>
              <a:rPr lang="en-US" sz="1300" b="1" dirty="0">
                <a:solidFill>
                  <a:srgbClr val="1A1A2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paga melhor do que o banco imagina</a:t>
            </a:r>
            <a:r>
              <a:rPr lang="en-US" sz="1300" dirty="0">
                <a:solidFill>
                  <a:srgbClr val="1A1A2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, e continua sendo rejeitado.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0" y="360367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2.000+ pessoas rejeitadas sem motivo real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0F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EVIDÊNCIA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anose="020B0502040204020203" pitchFamily="34" charset="0"/>
                <a:ea typeface="Arial Black" pitchFamily="34" charset="-122"/>
                <a:cs typeface="Segoe UI" panose="020B0502040204020203" pitchFamily="34" charset="0"/>
              </a:rPr>
              <a:t>O nível de risco explica mais que o bureau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1828800"/>
          </a:xfrm>
          <a:prstGeom prst="rect">
            <a:avLst/>
          </a:prstGeom>
          <a:solidFill>
            <a:srgbClr val="00B0F0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anose="020B0502040204020203" pitchFamily="34" charset="0"/>
                <a:ea typeface="Arial Black" pitchFamily="34" charset="-122"/>
                <a:cs typeface="Segoe UI" panose="020B0502040204020203" pitchFamily="34" charset="0"/>
              </a:rPr>
              <a:t>48p.p.</a:t>
            </a:r>
            <a:endParaRPr lang="en-US" sz="6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diferença entre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segmentos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54864" cy="822960"/>
          </a:xfrm>
          <a:prstGeom prst="rect">
            <a:avLst/>
          </a:prstGeom>
          <a:solidFill>
            <a:srgbClr val="00B0F0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931920" y="12070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Bureau Y com risco baixo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572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inadimplência menor que a média da carteira.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0" y="2240280"/>
            <a:ext cx="54864" cy="822960"/>
          </a:xfrm>
          <a:prstGeom prst="rect">
            <a:avLst/>
          </a:prstGeom>
          <a:solidFill>
            <a:srgbClr val="00B0F0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931920" y="2258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Bureau N com risco alto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624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inadimplência acima dos 'sujos' com renda alta.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0" y="3291840"/>
            <a:ext cx="54864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931920" y="33101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Médio perde mais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36758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supera o impacto unitário do Risco Crítico.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2529294785"/>
              </p:ext>
            </p:extLst>
          </p:nvPr>
        </p:nvGraphicFramePr>
        <p:xfrm>
          <a:off x="365760" y="3200400"/>
          <a:ext cx="84124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anose="020B0502040204020203" pitchFamily="34" charset="0"/>
                <a:ea typeface="Arial Black" pitchFamily="34" charset="-122"/>
                <a:cs typeface="Segoe UI" panose="020B0502040204020203" pitchFamily="34" charset="0"/>
              </a:rPr>
              <a:t>Como foi feito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 queries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CTEs encadeadas e window functions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exploração, segmentação, média móvel e simulação de impacto financeiro.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39319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65760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333756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dos dados, criação da coluna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Nível de Risco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 partir da Grade original e padronização de escala.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3931920" cy="3840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0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10912" y="164592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medidas calculadas: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Taxa de </a:t>
            </a:r>
            <a:r>
              <a:rPr lang="pt-BR" sz="1200" dirty="0"/>
              <a:t>Inadimplência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Perda Realizada, Índice de Risco Composto, Penalizados Injusto e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Delta Bureau vs Real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8803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846320" y="2880360"/>
            <a:ext cx="3931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10912" y="333756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páginas com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narrativas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Geral, O Falso Seguro, Segmentação de Risco e Impacto e Recomendação.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9B007-744D-F10C-5D82-386DC926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9AEC5E6-3336-5C3A-9589-C9B7BA6A84D5}"/>
              </a:ext>
            </a:extLst>
          </p:cNvPr>
          <p:cNvSpPr/>
          <p:nvPr/>
        </p:nvSpPr>
        <p:spPr>
          <a:xfrm>
            <a:off x="22860" y="0"/>
            <a:ext cx="9144000" cy="51435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574386A-29C7-B259-C6E0-C00485231DFD}"/>
              </a:ext>
            </a:extLst>
          </p:cNvPr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1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A36F41B-856B-B713-84E8-16BB24CAC604}"/>
              </a:ext>
            </a:extLst>
          </p:cNvPr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ea typeface="Arial Black" pitchFamily="34" charset="-122"/>
                <a:cs typeface="Segoe UI" panose="020B0502040204020203" pitchFamily="34" charset="0"/>
              </a:rPr>
              <a:t>O que fazer com isso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9A60982-CFEB-04A3-FC1A-EAED5F5BDA38}"/>
              </a:ext>
            </a:extLst>
          </p:cNvPr>
          <p:cNvSpPr/>
          <p:nvPr/>
        </p:nvSpPr>
        <p:spPr>
          <a:xfrm>
            <a:off x="640080" y="1572768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de usar o bureau como critério único de concessão e começar a cruzar com comprometimento de renda e taxa de juros.</a:t>
            </a:r>
            <a:endParaRPr lang="en-US" sz="15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300B5AB-122A-BD52-30D6-226AC8322125}"/>
              </a:ext>
            </a:extLst>
          </p:cNvPr>
          <p:cNvSpPr/>
          <p:nvPr/>
        </p:nvSpPr>
        <p:spPr>
          <a:xfrm>
            <a:off x="457200" y="2971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28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B55FB47-77FA-B5D6-E29C-C04E7ED70168}"/>
              </a:ext>
            </a:extLst>
          </p:cNvPr>
          <p:cNvSpPr/>
          <p:nvPr/>
        </p:nvSpPr>
        <p:spPr>
          <a:xfrm>
            <a:off x="457200" y="3520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Perdas</a:t>
            </a:r>
            <a:endParaRPr lang="en-US" sz="13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F5BEBADA-F801-9849-AD45-38A1A4E95777}"/>
              </a:ext>
            </a:extLst>
          </p:cNvPr>
          <p:cNvSpPr/>
          <p:nvPr/>
        </p:nvSpPr>
        <p:spPr>
          <a:xfrm>
            <a:off x="548640" y="38679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aprovações para o Falso Seguro.</a:t>
            </a:r>
            <a:endParaRPr lang="en-US" sz="11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2F66B0D3-E237-2D78-BCD9-CFC2708AECEC}"/>
              </a:ext>
            </a:extLst>
          </p:cNvPr>
          <p:cNvSpPr/>
          <p:nvPr/>
        </p:nvSpPr>
        <p:spPr>
          <a:xfrm>
            <a:off x="3291840" y="2971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</a:t>
            </a:r>
            <a:endParaRPr lang="en-US" sz="28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DD7FFFBD-2A63-563B-ACF0-3210868C45FF}"/>
              </a:ext>
            </a:extLst>
          </p:cNvPr>
          <p:cNvSpPr/>
          <p:nvPr/>
        </p:nvSpPr>
        <p:spPr>
          <a:xfrm>
            <a:off x="3291840" y="3520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da Base</a:t>
            </a:r>
            <a:endParaRPr lang="en-US" sz="13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DCAE5D6A-5845-279E-EB3B-F5B5C7EA7BF9}"/>
              </a:ext>
            </a:extLst>
          </p:cNvPr>
          <p:cNvSpPr/>
          <p:nvPr/>
        </p:nvSpPr>
        <p:spPr>
          <a:xfrm>
            <a:off x="3383280" y="38679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2.000+ clientes elegíveis liberados.</a:t>
            </a:r>
            <a:endParaRPr lang="en-US" sz="11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8BC17F4C-5556-A3AF-1D82-45A8E1D01BC7}"/>
              </a:ext>
            </a:extLst>
          </p:cNvPr>
          <p:cNvSpPr/>
          <p:nvPr/>
        </p:nvSpPr>
        <p:spPr>
          <a:xfrm>
            <a:off x="6185100" y="2971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6E137494-9522-C82C-4526-F0A96A5B9BB3}"/>
              </a:ext>
            </a:extLst>
          </p:cNvPr>
          <p:cNvSpPr/>
          <p:nvPr/>
        </p:nvSpPr>
        <p:spPr>
          <a:xfrm>
            <a:off x="6185100" y="3520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A231B6D-E9D8-08E3-819C-C972F4375180}"/>
              </a:ext>
            </a:extLst>
          </p:cNvPr>
          <p:cNvSpPr/>
          <p:nvPr/>
        </p:nvSpPr>
        <p:spPr>
          <a:xfrm>
            <a:off x="6294126" y="38679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Reanálise dos perfis bureau negativo + baixo comprometimento.</a:t>
            </a:r>
            <a:endParaRPr lang="en-US" sz="11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6B35F85C-A457-69BB-4C7F-C788908744BA}"/>
              </a:ext>
            </a:extLst>
          </p:cNvPr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github.com/lucassdolci/Case-CreditRisk  |  linkedin.com/in/lucas-dolci</a:t>
            </a:r>
            <a:endParaRPr lang="en-US" sz="1000" b="1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BEB59FC-6208-DABF-E52A-1F16CCE20440}"/>
              </a:ext>
            </a:extLst>
          </p:cNvPr>
          <p:cNvSpPr/>
          <p:nvPr/>
        </p:nvSpPr>
        <p:spPr>
          <a:xfrm>
            <a:off x="457200" y="1572768"/>
            <a:ext cx="8346831" cy="11064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E109DCE-88CE-DE7B-8724-C5B24DBCE9BE}"/>
              </a:ext>
            </a:extLst>
          </p:cNvPr>
          <p:cNvSpPr/>
          <p:nvPr/>
        </p:nvSpPr>
        <p:spPr>
          <a:xfrm>
            <a:off x="457199" y="2936396"/>
            <a:ext cx="2606041" cy="16173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D451FCA-192E-D384-8187-B5252B378B39}"/>
              </a:ext>
            </a:extLst>
          </p:cNvPr>
          <p:cNvSpPr/>
          <p:nvPr/>
        </p:nvSpPr>
        <p:spPr>
          <a:xfrm>
            <a:off x="3291839" y="2930300"/>
            <a:ext cx="2606041" cy="16173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3A7284C-C330-5628-4276-7DFFFFCBA557}"/>
              </a:ext>
            </a:extLst>
          </p:cNvPr>
          <p:cNvSpPr/>
          <p:nvPr/>
        </p:nvSpPr>
        <p:spPr>
          <a:xfrm>
            <a:off x="6189491" y="2930300"/>
            <a:ext cx="2614540" cy="16173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67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437</Words>
  <Application>Microsoft Office PowerPoint</Application>
  <PresentationFormat>Apresentação na tela (16:9)</PresentationFormat>
  <Paragraphs>65</Paragraphs>
  <Slides>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Credit Risk</dc:title>
  <dc:subject>PptxGenJS Presentation</dc:subject>
  <dc:creator>Lucas Dolci</dc:creator>
  <cp:lastModifiedBy>Lucas Dolci da Silva</cp:lastModifiedBy>
  <cp:revision>3</cp:revision>
  <dcterms:created xsi:type="dcterms:W3CDTF">2026-05-18T21:17:25Z</dcterms:created>
  <dcterms:modified xsi:type="dcterms:W3CDTF">2026-05-18T21:45:25Z</dcterms:modified>
</cp:coreProperties>
</file>